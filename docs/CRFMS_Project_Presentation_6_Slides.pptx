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04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D94D-210C-3FFF-D778-0B463FC47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A3743-2C49-B411-056F-A24B3941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9EC4-62CC-7692-59D6-E6DB4DDE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F9132-B897-022D-5C33-9F3372D8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7813C-1BE4-0449-9EE5-3D60CB55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15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CF89-1003-E4D3-5009-FEB9B2D0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85B93-9688-6552-BADB-8916B0F76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6D825-778A-79D3-4017-CB7ABB50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6315A-9730-52D1-0A15-1CF928049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BDA8A-EE8E-3641-64C9-AC0803D9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10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85E9-9B4C-36F0-7514-82E68510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93A46-BF91-33E6-CCC8-5FDFFB6A1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F0E42-9BF4-C5E4-5C4A-CAFCD85C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BD575-96A0-1CF8-414A-F55775615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02414-149D-D826-A456-DD7E8C8E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15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896C-D9F7-EA4A-0B37-F7F6187D0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7B7C5-B4D1-99F4-5CA7-39125B002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7E8E1-0380-69E3-592A-A24B128EE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ECDAE-710E-809E-3D34-2EF054AB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5D7A7-46D9-3725-0749-08416BE25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7B95C-C6FC-1730-70AC-4CA60BA1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434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BFDC8-83AF-2134-24AD-0EE2F8F19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D1E83-3533-F707-F636-DCDF7BC94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B5E1F-952A-3A2E-7AA5-33CAC9DF1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BF76A-832A-A551-02E8-A84A6A403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4AFB0-8DAF-2216-ABF1-C3D507174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6E42C-6BF2-4D8D-2F11-48364C61A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B44EC5-54A3-DECF-B4A6-FD96A56D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B1C703-366E-E91C-A63F-FF308619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114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6DC-F4DF-8A24-724F-398EA085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63F88-3F96-3E85-0485-6E20168D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4709E-7502-A014-1E6E-1B3192CE3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4F4C9-EEBE-E19F-412B-146EFCE76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05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97B88-D68C-CB88-6AE3-BFF0FDD8E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9DFE04-82FC-96E9-712B-327167F5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B8762-64ED-4B0C-F4E0-7FC9EF7E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517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BA82-12CA-5F71-0A3E-057B6C69A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028C4-369C-6A4E-2430-6A908E623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35168-5667-ECF3-6A7C-7B3E6A0DE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C2CED-CA9A-D927-9C0B-3C28D6288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F46B8-6E69-71E1-E2CC-0966509FA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C1C51-1B16-177D-6A5B-D545F9EB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786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3ADD0-5936-A1B4-F00E-DAB20197D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175E55-CFAC-C530-06C9-7F0463E6E93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EF658-76ED-12C5-F175-5BB689F96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0F581-7BD4-6134-03FB-4F1506D88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78521-122B-B478-F7BE-843AF6928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DBBD3-C8DA-2CD1-64C6-B0937323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87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D646-EF4D-858D-7CFA-4D160C8F4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85BB3-4BF5-1FDD-5CBA-F3765198D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73EB3-8BEF-3B67-A7D5-F32B22AD9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1E484-11B0-A8D8-4D80-6866404E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E9AD1-34F0-B831-98CA-D3B67321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38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EE22E6-07DD-C291-F445-715C6577D6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4F9BD-F40F-0E0B-7786-4CC1759F0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BA486-7537-40B7-2EDE-2E044F01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3E09A-3FFE-EEE7-B8D6-4651E1DE6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41231-2FA6-0C3B-70BF-DD1FCFFF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01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BDB4B3-4945-7BA1-8F2E-39E5A2F7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7AC48-B6C2-8C1C-345C-22C62A69B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3F886-0620-957F-137D-3478BAE83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6BAA7-0A87-4AFE-8094-EA515BC861A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58C1D-04FA-8996-074A-A9FBC6EF1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EF280-5F8F-159A-E97D-8E2853C4C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918D0-7F4F-4CB7-94C1-7006C2B1E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57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F038D1-54CE-880B-AE71-B1C902ED19EF}"/>
              </a:ext>
            </a:extLst>
          </p:cNvPr>
          <p:cNvSpPr txBox="1"/>
          <p:nvPr/>
        </p:nvSpPr>
        <p:spPr>
          <a:xfrm>
            <a:off x="863600" y="1397000"/>
            <a:ext cx="9906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Aptos" panose="020B0004020202020204" pitchFamily="34" charset="0"/>
              </a:rPr>
              <a:t>CRFMS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7558F-4470-AB0D-2D9E-42FB3A856390}"/>
              </a:ext>
            </a:extLst>
          </p:cNvPr>
          <p:cNvSpPr txBox="1"/>
          <p:nvPr/>
        </p:nvSpPr>
        <p:spPr>
          <a:xfrm>
            <a:off x="889000" y="2413000"/>
            <a:ext cx="990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500">
                <a:solidFill>
                  <a:srgbClr val="FFFFFF"/>
                </a:solidFill>
                <a:latin typeface="Aptos" panose="020B0004020202020204" pitchFamily="34" charset="0"/>
              </a:rPr>
              <a:t>Course Registration and Feedback Management System</a:t>
            </a:r>
            <a:endParaRPr lang="en-IN" sz="2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DCECE-EB2D-E0AB-8BF1-C0D7F362257D}"/>
              </a:ext>
            </a:extLst>
          </p:cNvPr>
          <p:cNvSpPr txBox="1"/>
          <p:nvPr/>
        </p:nvSpPr>
        <p:spPr>
          <a:xfrm>
            <a:off x="889000" y="3365500"/>
            <a:ext cx="990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800" b="1">
                <a:solidFill>
                  <a:srgbClr val="FFCC99"/>
                </a:solidFill>
                <a:latin typeface="Aptos" panose="020B0004020202020204" pitchFamily="34" charset="0"/>
              </a:rPr>
              <a:t>Java 17 desktop application with Swing and SQLite</a:t>
            </a:r>
            <a:endParaRPr lang="en-IN" sz="1800" b="1">
              <a:solidFill>
                <a:srgbClr val="FFCC9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5ED6F-319C-51CF-EB6B-EF60B4BA8F6A}"/>
              </a:ext>
            </a:extLst>
          </p:cNvPr>
          <p:cNvSpPr txBox="1"/>
          <p:nvPr/>
        </p:nvSpPr>
        <p:spPr>
          <a:xfrm>
            <a:off x="889000" y="5461000"/>
            <a:ext cx="1016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Aptos" panose="020B0004020202020204" pitchFamily="34" charset="0"/>
              </a:rPr>
              <a:t>Project presentation  |  Problem, solution, architecture, features, testing and future scope</a:t>
            </a:r>
            <a:endParaRPr lang="en-IN" sz="13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280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686BBE-C1EC-F9C7-B24C-DC265D4C3CB4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8BC00-7C6F-040F-734E-F68E74B13590}"/>
              </a:ext>
            </a:extLst>
          </p:cNvPr>
          <p:cNvSpPr txBox="1"/>
          <p:nvPr/>
        </p:nvSpPr>
        <p:spPr>
          <a:xfrm>
            <a:off x="685800" y="4826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33403F"/>
                </a:solidFill>
                <a:latin typeface="Aptos" panose="020B0004020202020204" pitchFamily="34" charset="0"/>
              </a:rPr>
              <a:t>1  Problem and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95364-71EC-6C6D-27D1-47A2E4FF6A55}"/>
              </a:ext>
            </a:extLst>
          </p:cNvPr>
          <p:cNvSpPr txBox="1"/>
          <p:nvPr/>
        </p:nvSpPr>
        <p:spPr>
          <a:xfrm>
            <a:off x="952500" y="1651000"/>
            <a:ext cx="10287000" cy="24314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Problem: course registration, feedback, doubts and course communication often sit in separate manual processes. This creates delayed updates, capacity conflicts and weak feedback privacy.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Solution: CRFMS brings these workflows into one role-based desktop system for administrators, faculty and students.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Result: the system applies rules at the point of action, stores records in SQLite and keeps each role focused on its own responsibilities.</a:t>
            </a:r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E384D8-5B44-B539-3CFA-4566E9F1FF1C}"/>
              </a:ext>
            </a:extLst>
          </p:cNvPr>
          <p:cNvSpPr txBox="1"/>
          <p:nvPr/>
        </p:nvSpPr>
        <p:spPr>
          <a:xfrm>
            <a:off x="685800" y="6350000"/>
            <a:ext cx="1079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33403F"/>
                </a:solidFill>
                <a:latin typeface="Aptos" panose="020B0004020202020204" pitchFamily="34" charset="0"/>
              </a:rPr>
              <a:t>Core idea: one local application for the full student course lifecycle</a:t>
            </a:r>
            <a:endParaRPr lang="en-IN" sz="1000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493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B253F2-DC0E-4D62-D4CC-1ED852EAD85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04C97-5A99-670E-25AA-DE0EB2FD517D}"/>
              </a:ext>
            </a:extLst>
          </p:cNvPr>
          <p:cNvSpPr txBox="1"/>
          <p:nvPr/>
        </p:nvSpPr>
        <p:spPr>
          <a:xfrm>
            <a:off x="685800" y="4826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33403F"/>
                </a:solidFill>
                <a:latin typeface="Aptos" panose="020B0004020202020204" pitchFamily="34" charset="0"/>
              </a:rPr>
              <a:t>2  Architecture and Application Flow</a:t>
            </a:r>
            <a:endParaRPr lang="en-IN" sz="3000" b="1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8DBE0-BFAC-3A3D-60E7-4436B9A4D8A7}"/>
              </a:ext>
            </a:extLst>
          </p:cNvPr>
          <p:cNvSpPr txBox="1"/>
          <p:nvPr/>
        </p:nvSpPr>
        <p:spPr>
          <a:xfrm>
            <a:off x="952500" y="1651000"/>
            <a:ext cx="10287000" cy="33085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900">
                <a:solidFill>
                  <a:srgbClr val="333333"/>
                </a:solidFill>
                <a:latin typeface="Aptos" panose="020B0004020202020204" pitchFamily="34" charset="0"/>
              </a:rPr>
              <a:t>Presentation layer: Java Swing screens provide separate workspaces for Admin, Faculty and Student.</a:t>
            </a:r>
          </a:p>
          <a:p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IN" sz="1900">
                <a:solidFill>
                  <a:srgbClr val="333333"/>
                </a:solidFill>
                <a:latin typeface="Aptos" panose="020B0004020202020204" pitchFamily="34" charset="0"/>
              </a:rPr>
              <a:t>Service layer: CrfmsService enforces permissions, registration rules, privacy thresholds, validation and transactions.</a:t>
            </a:r>
          </a:p>
          <a:p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IN" sz="1900">
                <a:solidFill>
                  <a:srgbClr val="333333"/>
                </a:solidFill>
                <a:latin typeface="Aptos" panose="020B0004020202020204" pitchFamily="34" charset="0"/>
              </a:rPr>
              <a:t>Data layer: SQLite stores users, courses, registrations, feedback, doubts, notifications, audits and settings.</a:t>
            </a:r>
          </a:p>
          <a:p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IN" sz="1900">
                <a:solidFill>
                  <a:srgbClr val="333333"/>
                </a:solidFill>
                <a:latin typeface="Aptos" panose="020B0004020202020204" pitchFamily="34" charset="0"/>
              </a:rPr>
              <a:t>Flow: Login  &gt;  role check  &gt;  workspace action  &gt;  service validation  &gt;  database update  &gt;  notification or report.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FF632D-3FC6-3F43-3932-B20956F566B5}"/>
              </a:ext>
            </a:extLst>
          </p:cNvPr>
          <p:cNvSpPr txBox="1"/>
          <p:nvPr/>
        </p:nvSpPr>
        <p:spPr>
          <a:xfrm>
            <a:off x="685800" y="6350000"/>
            <a:ext cx="1079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33403F"/>
                </a:solidFill>
                <a:latin typeface="Aptos" panose="020B0004020202020204" pitchFamily="34" charset="0"/>
              </a:rPr>
              <a:t>The user interface contains no direct SQL business logic</a:t>
            </a:r>
            <a:endParaRPr lang="en-IN" sz="1000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55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8652CD-46C4-730F-53C8-3E975389E9EE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95FAB-06E7-C86C-D208-E90328F3CC65}"/>
              </a:ext>
            </a:extLst>
          </p:cNvPr>
          <p:cNvSpPr txBox="1"/>
          <p:nvPr/>
        </p:nvSpPr>
        <p:spPr>
          <a:xfrm>
            <a:off x="685800" y="4826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33403F"/>
                </a:solidFill>
                <a:latin typeface="Aptos" panose="020B0004020202020204" pitchFamily="34" charset="0"/>
              </a:rPr>
              <a:t>3  Main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9F842-2DB8-5462-4972-4BFD58FF55FE}"/>
              </a:ext>
            </a:extLst>
          </p:cNvPr>
          <p:cNvSpPr txBox="1"/>
          <p:nvPr/>
        </p:nvSpPr>
        <p:spPr>
          <a:xfrm>
            <a:off x="952500" y="1651000"/>
            <a:ext cx="10287000" cy="41857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Administration: manage users, courses, settings, feedback periods, FAQs, audit events, exports and database backups.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Registration: capacity, credit limit and timetable-clash checks. Full courses use a FIFO waitlist and promote the next eligible student after a drop.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Feedback: simple anonymous course ratings plus ten-category teaching feedback with thresholds, strengths and editable improvement rules.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Learning support: FAQ keyword matching answers known questions. Unmatched doubts become faculty tickets and can remain anonymous.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Communication: announcements, resources and in-app notifications are shown only to eligible users.</a:t>
            </a:r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974F3-EC13-F4FF-5ADE-D5C113D2D13D}"/>
              </a:ext>
            </a:extLst>
          </p:cNvPr>
          <p:cNvSpPr txBox="1"/>
          <p:nvPr/>
        </p:nvSpPr>
        <p:spPr>
          <a:xfrm>
            <a:off x="685800" y="6350000"/>
            <a:ext cx="1079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33403F"/>
                </a:solidFill>
                <a:latin typeface="Aptos" panose="020B0004020202020204" pitchFamily="34" charset="0"/>
              </a:rPr>
              <a:t>All key actions use validated service methods and prepared SQL statements</a:t>
            </a:r>
            <a:endParaRPr lang="en-IN" sz="1000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725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101F36-C0A7-71F8-E7F2-5F5A16B8CCD2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FC09B-BA27-965F-E2D8-270623E31A51}"/>
              </a:ext>
            </a:extLst>
          </p:cNvPr>
          <p:cNvSpPr txBox="1"/>
          <p:nvPr/>
        </p:nvSpPr>
        <p:spPr>
          <a:xfrm>
            <a:off x="685800" y="4826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33403F"/>
                </a:solidFill>
                <a:latin typeface="Aptos" panose="020B0004020202020204" pitchFamily="34" charset="0"/>
              </a:rPr>
              <a:t>4  What Makes CRFMS Different</a:t>
            </a:r>
            <a:endParaRPr lang="en-IN" sz="3000" b="1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4392C-9068-995C-560C-ADBBC6D81808}"/>
              </a:ext>
            </a:extLst>
          </p:cNvPr>
          <p:cNvSpPr txBox="1"/>
          <p:nvPr/>
        </p:nvSpPr>
        <p:spPr>
          <a:xfrm>
            <a:off x="952500" y="1651000"/>
            <a:ext cx="10287000" cy="33085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Privacy by design: feedback averages remain hidden until the minimum response count is met. Anonymous doubts hide student identity from faculty views.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Explainable teaching guidance: the system uses visible threshold rules and editable advice. It does not make automated ranking or disciplinary decisions.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Safe operations: password hashing, forced first-password change, failed-login lockout, role checks, audit events, backups and formula-safe CSV exports.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Useful reporting: course quality overview, privacy-gated department benchmark, CSV reports and persisted local data.</a:t>
            </a:r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F9B56-21D3-4EF7-5610-A9107071946D}"/>
              </a:ext>
            </a:extLst>
          </p:cNvPr>
          <p:cNvSpPr txBox="1"/>
          <p:nvPr/>
        </p:nvSpPr>
        <p:spPr>
          <a:xfrm>
            <a:off x="685800" y="6350000"/>
            <a:ext cx="1079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33403F"/>
                </a:solidFill>
                <a:latin typeface="Aptos" panose="020B0004020202020204" pitchFamily="34" charset="0"/>
              </a:rPr>
              <a:t>The project combines workflow control with privacy and explainability</a:t>
            </a:r>
            <a:endParaRPr lang="en-IN" sz="1000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064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FB8C8A-ABEE-DC33-DB48-7C592603B21B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AE58D8-44A0-6BA3-480A-07B04187EAA6}"/>
              </a:ext>
            </a:extLst>
          </p:cNvPr>
          <p:cNvSpPr txBox="1"/>
          <p:nvPr/>
        </p:nvSpPr>
        <p:spPr>
          <a:xfrm>
            <a:off x="685800" y="4826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33403F"/>
                </a:solidFill>
                <a:latin typeface="Aptos" panose="020B0004020202020204" pitchFamily="34" charset="0"/>
              </a:rPr>
              <a:t>5  Testing and Demonstration Evidence</a:t>
            </a:r>
            <a:endParaRPr lang="en-IN" sz="3000" b="1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E1BC34-D040-C1BD-A90C-981DDA2E9742}"/>
              </a:ext>
            </a:extLst>
          </p:cNvPr>
          <p:cNvSpPr txBox="1"/>
          <p:nvPr/>
        </p:nvSpPr>
        <p:spPr>
          <a:xfrm>
            <a:off x="952500" y="1651000"/>
            <a:ext cx="10287000" cy="36009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Commands: build.bat compiles the project. test.bat runs automated security, schema and database-integration checks. run.bat --demo starts fictional demonstration data.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Verified automated checks: SecurityTest passed 4 checks. Schema validation passed 14 checks. DatabaseIntegrationTest passed extended workflows.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Demonstration sequence: Admin overview and course setup; Student registration and feedback; waitlist promotion; Faculty doubt answer and announcement; Admin reports, audit log and backup.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Persistence: close and reopen the application to show that SQLite retains users, courses and registrations.</a:t>
            </a:r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F1392-3DAE-413A-5629-AFDF9AE31116}"/>
              </a:ext>
            </a:extLst>
          </p:cNvPr>
          <p:cNvSpPr txBox="1"/>
          <p:nvPr/>
        </p:nvSpPr>
        <p:spPr>
          <a:xfrm>
            <a:off x="685800" y="6350000"/>
            <a:ext cx="1079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33403F"/>
                </a:solidFill>
                <a:latin typeface="Aptos" panose="020B0004020202020204" pitchFamily="34" charset="0"/>
              </a:rPr>
              <a:t>Use only fictional demo accounts and never display changed passwords</a:t>
            </a:r>
            <a:endParaRPr lang="en-IN" sz="1000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5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2E89E2-9B48-92FF-0951-487930A8B25A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17726-77FD-9C8D-8CCC-C420F63A6B64}"/>
              </a:ext>
            </a:extLst>
          </p:cNvPr>
          <p:cNvSpPr txBox="1"/>
          <p:nvPr/>
        </p:nvSpPr>
        <p:spPr>
          <a:xfrm>
            <a:off x="685800" y="4826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33403F"/>
                </a:solidFill>
                <a:latin typeface="Aptos" panose="020B0004020202020204" pitchFamily="34" charset="0"/>
              </a:rPr>
              <a:t>6  Future Scope and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5925B-9214-B0A1-21E5-0765205DE981}"/>
              </a:ext>
            </a:extLst>
          </p:cNvPr>
          <p:cNvSpPr txBox="1"/>
          <p:nvPr/>
        </p:nvSpPr>
        <p:spPr>
          <a:xfrm>
            <a:off x="952500" y="1651000"/>
            <a:ext cx="10287000" cy="24314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Future scope: email or SMS notifications, dashboard charts, a web or mobile client, stronger report filters, database migration history and a larger FAQ knowledge base.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Scalability path: retain the service rules and replace local SQLite with a managed database when multi-user network access is required.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Conclusion: CRFMS delivers one complete desktop workflow for secure course registration, protected feedback, doubt handling and transparent teaching improvement.</a:t>
            </a:r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EBE80-2059-6532-48DF-27A254AA7D4D}"/>
              </a:ext>
            </a:extLst>
          </p:cNvPr>
          <p:cNvSpPr txBox="1"/>
          <p:nvPr/>
        </p:nvSpPr>
        <p:spPr>
          <a:xfrm>
            <a:off x="685800" y="6350000"/>
            <a:ext cx="1079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33403F"/>
                </a:solidFill>
                <a:latin typeface="Aptos" panose="020B0004020202020204" pitchFamily="34" charset="0"/>
              </a:rPr>
              <a:t>Thank you  |  Questions and live demonstration</a:t>
            </a:r>
            <a:endParaRPr lang="en-IN" sz="1000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649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</Words>
  <Application>Microsoft Office PowerPoint</Application>
  <PresentationFormat>On-screen Show (16:9)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Nanda Kishore</dc:creator>
  <cp:lastModifiedBy>Nanda Kishore</cp:lastModifiedBy>
  <cp:revision>1</cp:revision>
  <dcterms:created xsi:type="dcterms:W3CDTF">2026-10-12T18:53:33Z</dcterms:created>
  <dcterms:modified xsi:type="dcterms:W3CDTF">2026-10-12T18:53:33Z</dcterms:modified>
</cp:coreProperties>
</file>