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45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4046C-1D8D-EBB8-1321-48D39CAFD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9A3A59-3298-3515-4D36-C77712B2C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44C1F-AEDD-9A67-F8C2-B4592F354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6FF71-A093-40A2-9D83-2AB171080B0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59489-9BA9-5881-314B-114F30E53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EC1FB-AEFB-2655-AFC8-F012097C4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8C47F-6698-4164-92B2-B363C31155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23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33192-0791-A5DD-899E-4583FF02E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67D65-CBF1-65DB-3A69-9E83E92DB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42B8D-EA3C-CE01-6777-23E3A0E58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6FF71-A093-40A2-9D83-2AB171080B0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A9FAF-DD70-D08D-F343-3B9BF958E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DBD0F-EC54-0249-8B6C-BB87D8144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8C47F-6698-4164-92B2-B363C31155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180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7A834-9390-A21C-E132-3AE1D947A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B458E2-51B6-30E1-95DF-78B97C715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E672D-929D-45DA-9699-7A9B20AA0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6FF71-A093-40A2-9D83-2AB171080B0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9140E-18EA-4B52-EB1A-88EB4CD34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D8ADB-E565-6332-1266-C8C11806C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8C47F-6698-4164-92B2-B363C31155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598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DA2EA-7CAF-C18C-A281-4994C85AD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8D22C-C925-E043-EADB-953523C7A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C4CA79-39CF-0FCC-5FCA-8880CCF09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9C6395-B640-91C3-72A5-36562CFE3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6FF71-A093-40A2-9D83-2AB171080B0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5AD8F-61CF-2D99-22E1-74DEA2CAC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043FD4-BBB2-7391-B732-0AE96EF2E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8C47F-6698-4164-92B2-B363C31155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349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042D5-152B-AB6A-D076-DFD23D7CE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E536BB-EFEC-2634-156D-393DAD86F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C17B72-19BE-6275-8FC6-B211E804F9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BBC797-275C-03A2-E942-F7060F6DCB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400A9D-BEA7-EE35-2019-90C745F690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65DAF8-F21E-F9AB-4960-3E651377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6FF71-A093-40A2-9D83-2AB171080B0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039862-3D22-2B28-9B06-D83594B32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3BF995-5501-972C-F1A2-794A25014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8C47F-6698-4164-92B2-B363C31155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762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0DC93-DEBA-2BA2-4A17-5B5831AD9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7A2A63-5D32-9B73-4DB1-102A6E2F4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6FF71-A093-40A2-9D83-2AB171080B0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87D53B-0911-D1DC-8BAA-DFB8DA761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04D73A-DB5F-AF91-A559-74C332327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8C47F-6698-4164-92B2-B363C31155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290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29EF9E-0D5D-C11E-71A1-6CD980BB5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6FF71-A093-40A2-9D83-2AB171080B0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197F7A-CDB6-EA88-CD32-83D29BB39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12632-DCC2-0B57-E634-1535A6147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8C47F-6698-4164-92B2-B363C31155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231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D521E-654D-6E3D-4DB7-1A5B4518B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02FC3-0901-DD51-56C5-455E75B75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26FAD-CBD8-4230-5D49-15A88EDE19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CE7E3A-0966-FC5F-CB1C-DDF76CD40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6FF71-A093-40A2-9D83-2AB171080B0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B48201-64AB-7D39-AD54-A0DFFC01B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32573-FF4C-9538-C53B-8B5DCE336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8C47F-6698-4164-92B2-B363C31155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922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FFD42-6EBA-73F7-EC45-E11C13F49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298B2B-BEB7-FF22-0F70-110AC185EB4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A7AFB-A2EE-78C8-4E38-E1D9DC518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6E42-92A1-B299-87D9-BA1B13119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6FF71-A093-40A2-9D83-2AB171080B0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04F2B-90FC-77CF-3592-9947B5248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4C9E5D-FF7F-3DA1-79A5-6AA296E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8C47F-6698-4164-92B2-B363C31155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612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7A702-B6CF-1827-83F9-41A1A44CA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64DD4E-D26E-B381-7CFF-F26936C15F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94B5D-33E7-DB59-F59A-1216A78D3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6FF71-A093-40A2-9D83-2AB171080B0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1D89C-E611-649E-D3DF-C483004C7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96CA9-B979-3236-D591-9D8A97212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8C47F-6698-4164-92B2-B363C31155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003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3B2FF8-1B39-8186-AAEA-D4B08828D6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8C11AA-CFF6-F42F-5ADD-797EEC8D6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7BCBD-B5E1-5A42-5A43-723E77E9D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6FF71-A093-40A2-9D83-2AB171080B0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5CA89-5255-30F4-106F-D9CD8164E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B95CE-2C87-8783-F11B-4BEA74067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8C47F-6698-4164-92B2-B363C31155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68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FB4735-B6F4-837F-F918-A25703711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B417F-652C-4F17-6163-F0F056412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14D63-AFCB-74A5-1A98-A4880DABDB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D6FF71-A093-40A2-9D83-2AB171080B0A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1DE37-902F-B655-BEA4-9FC4503E47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66923-919D-532D-9184-6106F4DEAA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8C47F-6698-4164-92B2-B363C31155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65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4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60A045-ABDC-5834-9F62-903E9BA80DE0}"/>
              </a:ext>
            </a:extLst>
          </p:cNvPr>
          <p:cNvSpPr txBox="1"/>
          <p:nvPr/>
        </p:nvSpPr>
        <p:spPr>
          <a:xfrm>
            <a:off x="863600" y="1397000"/>
            <a:ext cx="9906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4000" b="1">
                <a:solidFill>
                  <a:srgbClr val="FFFFFF"/>
                </a:solidFill>
                <a:latin typeface="Aptos" panose="020B0004020202020204" pitchFamily="34" charset="0"/>
              </a:rPr>
              <a:t>CRFMS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0E2896-E795-3E50-360D-2C3269C30785}"/>
              </a:ext>
            </a:extLst>
          </p:cNvPr>
          <p:cNvSpPr txBox="1"/>
          <p:nvPr/>
        </p:nvSpPr>
        <p:spPr>
          <a:xfrm>
            <a:off x="889000" y="2413000"/>
            <a:ext cx="9906000" cy="4770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500">
                <a:solidFill>
                  <a:srgbClr val="FFFFFF"/>
                </a:solidFill>
                <a:latin typeface="Aptos" panose="020B0004020202020204" pitchFamily="34" charset="0"/>
              </a:rPr>
              <a:t>Course Registration and Feedback Management System</a:t>
            </a:r>
            <a:endParaRPr lang="en-IN" sz="25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FFFF9B-C0DE-DC97-7BF5-8DD6D7BC9131}"/>
              </a:ext>
            </a:extLst>
          </p:cNvPr>
          <p:cNvSpPr txBox="1"/>
          <p:nvPr/>
        </p:nvSpPr>
        <p:spPr>
          <a:xfrm>
            <a:off x="889000" y="3365500"/>
            <a:ext cx="9906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800" b="1">
                <a:solidFill>
                  <a:srgbClr val="FFCC99"/>
                </a:solidFill>
                <a:latin typeface="Aptos" panose="020B0004020202020204" pitchFamily="34" charset="0"/>
              </a:rPr>
              <a:t>Java 17 desktop application with Swing and SQLite</a:t>
            </a:r>
            <a:endParaRPr lang="en-IN" sz="1800" b="1">
              <a:solidFill>
                <a:srgbClr val="FFCC99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CA9CD1-2CEF-D989-FDB2-7F4FE222C7CC}"/>
              </a:ext>
            </a:extLst>
          </p:cNvPr>
          <p:cNvSpPr txBox="1"/>
          <p:nvPr/>
        </p:nvSpPr>
        <p:spPr>
          <a:xfrm>
            <a:off x="889000" y="5461000"/>
            <a:ext cx="1016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FFFFFF"/>
                </a:solidFill>
                <a:latin typeface="Aptos" panose="020B0004020202020204" pitchFamily="34" charset="0"/>
              </a:rPr>
              <a:t>Project presentation  |  Problem, solution, architecture, features, testing and future scope</a:t>
            </a:r>
            <a:endParaRPr lang="en-IN" sz="130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345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C81EF4-804C-58CA-DFAE-DE3F29F1C95E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FFCC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EF9ED9-69C4-9CD2-0C30-E0C8535F709C}"/>
              </a:ext>
            </a:extLst>
          </p:cNvPr>
          <p:cNvSpPr txBox="1"/>
          <p:nvPr/>
        </p:nvSpPr>
        <p:spPr>
          <a:xfrm>
            <a:off x="685800" y="482600"/>
            <a:ext cx="10795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000" b="1">
                <a:solidFill>
                  <a:srgbClr val="33403F"/>
                </a:solidFill>
                <a:latin typeface="Aptos" panose="020B0004020202020204" pitchFamily="34" charset="0"/>
              </a:rPr>
              <a:t>1  Problem and Solution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010E04-0212-40DC-CD04-95957CEAA9EB}"/>
              </a:ext>
            </a:extLst>
          </p:cNvPr>
          <p:cNvSpPr txBox="1"/>
          <p:nvPr/>
        </p:nvSpPr>
        <p:spPr>
          <a:xfrm>
            <a:off x="952500" y="1651000"/>
            <a:ext cx="10287000" cy="24314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Problem: course registration, feedback, doubts and course communication often sit in separate manual processes. This creates delayed updates, capacity conflicts and weak feedback privacy.</a:t>
            </a:r>
          </a:p>
          <a:p>
            <a:endParaRPr lang="en-US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Solution: CRFMS brings these workflows into one role-based desktop system for administrators, faculty and students.</a:t>
            </a:r>
          </a:p>
          <a:p>
            <a:endParaRPr lang="en-US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Result: the system applies rules at the point of action, stores records in SQLite and keeps each role focused on its own responsibilities.</a:t>
            </a:r>
            <a:endParaRPr lang="en-IN" sz="19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8B41FF-6A6A-A0AB-4FF5-699E1008BC95}"/>
              </a:ext>
            </a:extLst>
          </p:cNvPr>
          <p:cNvSpPr txBox="1"/>
          <p:nvPr/>
        </p:nvSpPr>
        <p:spPr>
          <a:xfrm>
            <a:off x="685800" y="6350000"/>
            <a:ext cx="1079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33403F"/>
                </a:solidFill>
                <a:latin typeface="Aptos" panose="020B0004020202020204" pitchFamily="34" charset="0"/>
              </a:rPr>
              <a:t>Core idea: one local application for the full student course lifecycle</a:t>
            </a:r>
            <a:endParaRPr lang="en-IN" sz="1000">
              <a:solidFill>
                <a:srgbClr val="33403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17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6D182F-BCF1-AF70-38AD-78F1CF15AB42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FFCC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EE7CA3-65EE-8C5C-C85F-FAED2BE2319B}"/>
              </a:ext>
            </a:extLst>
          </p:cNvPr>
          <p:cNvSpPr txBox="1"/>
          <p:nvPr/>
        </p:nvSpPr>
        <p:spPr>
          <a:xfrm>
            <a:off x="685800" y="482600"/>
            <a:ext cx="10795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33403F"/>
                </a:solidFill>
                <a:latin typeface="Aptos" panose="020B0004020202020204" pitchFamily="34" charset="0"/>
              </a:rPr>
              <a:t>2  Architecture and Application Flow</a:t>
            </a:r>
            <a:endParaRPr lang="en-IN" sz="3000" b="1">
              <a:solidFill>
                <a:srgbClr val="33403F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86E3EE-7086-7EC6-D8E5-DF5C08E43960}"/>
              </a:ext>
            </a:extLst>
          </p:cNvPr>
          <p:cNvSpPr txBox="1"/>
          <p:nvPr/>
        </p:nvSpPr>
        <p:spPr>
          <a:xfrm>
            <a:off x="952500" y="1651000"/>
            <a:ext cx="10287000" cy="33085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900">
                <a:solidFill>
                  <a:srgbClr val="333333"/>
                </a:solidFill>
                <a:latin typeface="Aptos" panose="020B0004020202020204" pitchFamily="34" charset="0"/>
              </a:rPr>
              <a:t>Presentation layer: Java Swing screens provide separate workspaces for Admin, Faculty and Student.</a:t>
            </a:r>
          </a:p>
          <a:p>
            <a:endParaRPr lang="en-IN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IN" sz="1900">
                <a:solidFill>
                  <a:srgbClr val="333333"/>
                </a:solidFill>
                <a:latin typeface="Aptos" panose="020B0004020202020204" pitchFamily="34" charset="0"/>
              </a:rPr>
              <a:t>Service layer: CrfmsService enforces permissions, registration rules, privacy thresholds, validation and transactions.</a:t>
            </a:r>
          </a:p>
          <a:p>
            <a:endParaRPr lang="en-IN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IN" sz="1900">
                <a:solidFill>
                  <a:srgbClr val="333333"/>
                </a:solidFill>
                <a:latin typeface="Aptos" panose="020B0004020202020204" pitchFamily="34" charset="0"/>
              </a:rPr>
              <a:t>Data layer: SQLite stores users, courses, registrations, feedback, doubts, notifications, audits and settings.</a:t>
            </a:r>
          </a:p>
          <a:p>
            <a:endParaRPr lang="en-IN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IN" sz="1900">
                <a:solidFill>
                  <a:srgbClr val="333333"/>
                </a:solidFill>
                <a:latin typeface="Aptos" panose="020B0004020202020204" pitchFamily="34" charset="0"/>
              </a:rPr>
              <a:t>Flow: Login  &gt;  role check  &gt;  workspace action  &gt;  service validation  &gt;  database update  &gt;  notification or report.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834411-944C-B4D4-8B1A-3808D33324C1}"/>
              </a:ext>
            </a:extLst>
          </p:cNvPr>
          <p:cNvSpPr txBox="1"/>
          <p:nvPr/>
        </p:nvSpPr>
        <p:spPr>
          <a:xfrm>
            <a:off x="685800" y="6350000"/>
            <a:ext cx="1079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33403F"/>
                </a:solidFill>
                <a:latin typeface="Aptos" panose="020B0004020202020204" pitchFamily="34" charset="0"/>
              </a:rPr>
              <a:t>The user interface contains no direct SQL business logic</a:t>
            </a:r>
            <a:endParaRPr lang="en-IN" sz="1000">
              <a:solidFill>
                <a:srgbClr val="33403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474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867615-F79D-1E48-8686-D66D085972B6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FFCC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41135F-C69D-5FD4-0FDF-3A6153C82281}"/>
              </a:ext>
            </a:extLst>
          </p:cNvPr>
          <p:cNvSpPr txBox="1"/>
          <p:nvPr/>
        </p:nvSpPr>
        <p:spPr>
          <a:xfrm>
            <a:off x="685800" y="482600"/>
            <a:ext cx="10795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000" b="1">
                <a:solidFill>
                  <a:srgbClr val="33403F"/>
                </a:solidFill>
                <a:latin typeface="Aptos" panose="020B0004020202020204" pitchFamily="34" charset="0"/>
              </a:rPr>
              <a:t>3  Main Features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E8A135-710C-D5EC-0BCE-F7C4184874A1}"/>
              </a:ext>
            </a:extLst>
          </p:cNvPr>
          <p:cNvSpPr txBox="1"/>
          <p:nvPr/>
        </p:nvSpPr>
        <p:spPr>
          <a:xfrm>
            <a:off x="952500" y="1651000"/>
            <a:ext cx="10287000" cy="506292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Administration: manage users, courses, settings, feedback periods, FAQs, audit events, exports and database backups.</a:t>
            </a:r>
          </a:p>
          <a:p>
            <a:endParaRPr lang="en-US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Registration: capacity, credit limit and timetable-clash checks. Full courses use a FIFO waitlist and promote the next eligible student after a drop.</a:t>
            </a:r>
          </a:p>
          <a:p>
            <a:endParaRPr lang="en-US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Feedback: simple anonymous course ratings plus ten-category teaching feedback with thresholds, strengths and editable improvement rules.</a:t>
            </a:r>
          </a:p>
          <a:p>
            <a:endParaRPr lang="en-US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Learning support: FAQ keyword matching answers known questions. Unmatched doubts become faculty tickets and can remain anonymous.</a:t>
            </a:r>
          </a:p>
          <a:p>
            <a:endParaRPr lang="en-US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Communication: announcements, resources and in-app notifications are shown only to eligible users.</a:t>
            </a:r>
          </a:p>
          <a:p>
            <a:endParaRPr lang="en-US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Unique value: privacy thresholds, anonymous doubts and transparent editable guidance rules protect students while keeping improvement actions explainable.</a:t>
            </a:r>
            <a:endParaRPr lang="en-IN" sz="19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737768-E832-CB3A-17F8-131864D1151D}"/>
              </a:ext>
            </a:extLst>
          </p:cNvPr>
          <p:cNvSpPr txBox="1"/>
          <p:nvPr/>
        </p:nvSpPr>
        <p:spPr>
          <a:xfrm>
            <a:off x="685800" y="6350000"/>
            <a:ext cx="1079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33403F"/>
                </a:solidFill>
                <a:latin typeface="Aptos" panose="020B0004020202020204" pitchFamily="34" charset="0"/>
              </a:rPr>
              <a:t>All key actions use validated service methods and prepared SQL statements</a:t>
            </a:r>
            <a:endParaRPr lang="en-IN" sz="1000">
              <a:solidFill>
                <a:srgbClr val="33403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146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D223A1-6E30-1D8E-5666-6A50D14788FE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FFCC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BBFE79-6E6C-9CD2-0EB0-96E2652741E6}"/>
              </a:ext>
            </a:extLst>
          </p:cNvPr>
          <p:cNvSpPr txBox="1"/>
          <p:nvPr/>
        </p:nvSpPr>
        <p:spPr>
          <a:xfrm>
            <a:off x="685800" y="482600"/>
            <a:ext cx="10795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000" b="1">
                <a:solidFill>
                  <a:srgbClr val="33403F"/>
                </a:solidFill>
                <a:latin typeface="Aptos" panose="020B0004020202020204" pitchFamily="34" charset="0"/>
              </a:rPr>
              <a:t>4  Testing and Demonstration Evidence</a:t>
            </a:r>
            <a:endParaRPr lang="en-IN" sz="3000" b="1">
              <a:solidFill>
                <a:srgbClr val="33403F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3166D1-A226-1EBF-8AED-36785046382B}"/>
              </a:ext>
            </a:extLst>
          </p:cNvPr>
          <p:cNvSpPr txBox="1"/>
          <p:nvPr/>
        </p:nvSpPr>
        <p:spPr>
          <a:xfrm>
            <a:off x="952500" y="1651000"/>
            <a:ext cx="10287000" cy="36009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Commands: build.bat compiles the project. test.bat runs automated security, schema and database-integration checks. run.bat --demo starts fictional demonstration data.</a:t>
            </a:r>
          </a:p>
          <a:p>
            <a:endParaRPr lang="en-US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Verified automated checks: SecurityTest passed 4 checks. Schema validation passed 14 checks. DatabaseIntegrationTest passed extended workflows.</a:t>
            </a:r>
          </a:p>
          <a:p>
            <a:endParaRPr lang="en-US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Demonstration sequence: Admin overview and course setup; Student registration and feedback; waitlist promotion; Faculty doubt answer and announcement; Admin reports, audit log and backup.</a:t>
            </a:r>
          </a:p>
          <a:p>
            <a:endParaRPr lang="en-US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Persistence: close and reopen the application to show that SQLite retains users, courses and registrations.</a:t>
            </a:r>
            <a:endParaRPr lang="en-IN" sz="19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D7DE81-6107-A23F-A9B7-98CF67F126E1}"/>
              </a:ext>
            </a:extLst>
          </p:cNvPr>
          <p:cNvSpPr txBox="1"/>
          <p:nvPr/>
        </p:nvSpPr>
        <p:spPr>
          <a:xfrm>
            <a:off x="685800" y="6350000"/>
            <a:ext cx="1079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33403F"/>
                </a:solidFill>
                <a:latin typeface="Aptos" panose="020B0004020202020204" pitchFamily="34" charset="0"/>
              </a:rPr>
              <a:t>Use only fictional demo accounts and never display changed passwords</a:t>
            </a:r>
            <a:endParaRPr lang="en-IN" sz="1000">
              <a:solidFill>
                <a:srgbClr val="33403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592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509009-302F-AB36-F88B-879B059CF603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FFCC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40D5D9-C2D0-3C39-3B44-FB84CCB2A0A0}"/>
              </a:ext>
            </a:extLst>
          </p:cNvPr>
          <p:cNvSpPr txBox="1"/>
          <p:nvPr/>
        </p:nvSpPr>
        <p:spPr>
          <a:xfrm>
            <a:off x="685800" y="482600"/>
            <a:ext cx="10795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3000" b="1">
                <a:solidFill>
                  <a:srgbClr val="33403F"/>
                </a:solidFill>
                <a:latin typeface="Aptos" panose="020B0004020202020204" pitchFamily="34" charset="0"/>
              </a:rPr>
              <a:t>5  Future Scope and 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E1B1DC-7345-A918-3412-2EA26F75C25A}"/>
              </a:ext>
            </a:extLst>
          </p:cNvPr>
          <p:cNvSpPr txBox="1"/>
          <p:nvPr/>
        </p:nvSpPr>
        <p:spPr>
          <a:xfrm>
            <a:off x="952500" y="1651000"/>
            <a:ext cx="10287000" cy="24314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Future scope: email or SMS notifications, dashboard charts, a web or mobile client, stronger report filters, database migration history and a larger FAQ knowledge base.</a:t>
            </a:r>
          </a:p>
          <a:p>
            <a:endParaRPr lang="en-US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Scalability path: retain the service rules and replace local SQLite with a managed database when multi-user network access is required.</a:t>
            </a:r>
          </a:p>
          <a:p>
            <a:endParaRPr lang="en-US" sz="1900">
              <a:solidFill>
                <a:srgbClr val="333333"/>
              </a:solidFill>
              <a:latin typeface="Aptos" panose="020B0004020202020204" pitchFamily="34" charset="0"/>
            </a:endParaRPr>
          </a:p>
          <a:p>
            <a:r>
              <a:rPr lang="en-US" sz="1900">
                <a:solidFill>
                  <a:srgbClr val="333333"/>
                </a:solidFill>
                <a:latin typeface="Aptos" panose="020B0004020202020204" pitchFamily="34" charset="0"/>
              </a:rPr>
              <a:t>Conclusion: CRFMS delivers one complete desktop workflow for secure course registration, protected feedback, doubt handling and transparent teaching improvement.</a:t>
            </a:r>
            <a:endParaRPr lang="en-IN" sz="1900">
              <a:solidFill>
                <a:srgbClr val="333333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69F896-681A-76A8-2B1A-E1EE93E251AC}"/>
              </a:ext>
            </a:extLst>
          </p:cNvPr>
          <p:cNvSpPr txBox="1"/>
          <p:nvPr/>
        </p:nvSpPr>
        <p:spPr>
          <a:xfrm>
            <a:off x="685800" y="6350000"/>
            <a:ext cx="107950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33403F"/>
                </a:solidFill>
                <a:latin typeface="Aptos" panose="020B0004020202020204" pitchFamily="34" charset="0"/>
              </a:rPr>
              <a:t>Thank you  |  Questions and live demonstration</a:t>
            </a:r>
            <a:endParaRPr lang="en-IN" sz="1000">
              <a:solidFill>
                <a:srgbClr val="33403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380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548</Words>
  <Application>Microsoft Office PowerPoint</Application>
  <PresentationFormat>On-screen Show (16:9)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Nanda Kishore</dc:creator>
  <cp:lastModifiedBy>Nanda Kishore</cp:lastModifiedBy>
  <cp:revision>1</cp:revision>
  <dcterms:created xsi:type="dcterms:W3CDTF">2026-10-12T18:54:42Z</dcterms:created>
  <dcterms:modified xsi:type="dcterms:W3CDTF">2026-10-12T18:54:42Z</dcterms:modified>
</cp:coreProperties>
</file>